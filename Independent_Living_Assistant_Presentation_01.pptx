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09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32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31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8ACA1-0593-985F-6B98-4F4394CE7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EF1E3-C9A4-2D75-05C1-90609ABB9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62043-E2B4-6E87-D66E-8A6D36F6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7C78B-091A-2B86-8025-5E8C0C9B0D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26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6309360" y="-1371600"/>
            <a:ext cx="9144000" cy="9144000"/>
          </a:xfrm>
          <a:prstGeom prst="rect">
            <a:avLst/>
          </a:prstGeom>
          <a:solidFill>
            <a:srgbClr val="0A3844"/>
          </a:solidFill>
          <a:ln/>
        </p:spPr>
      </p:sp>
      <p:sp>
        <p:nvSpPr>
          <p:cNvPr id="3" name="Shape 1"/>
          <p:cNvSpPr/>
          <p:nvPr/>
        </p:nvSpPr>
        <p:spPr>
          <a:xfrm rot="-1200000">
            <a:off x="8778240" y="3108960"/>
            <a:ext cx="6400800" cy="6400800"/>
          </a:xfrm>
          <a:prstGeom prst="rect">
            <a:avLst/>
          </a:prstGeom>
          <a:solidFill>
            <a:srgbClr val="0C4A5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SAFETY · IoT PROTOTYPE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Independent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Assistant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integrated smart-home system that helps elderly people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safely and independently.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50836D-9451-E6A6-CE35-2AB79D5C8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92" y="1891504"/>
            <a:ext cx="4922858" cy="43035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10698480" y="5120640"/>
            <a:ext cx="3657600" cy="3657600"/>
          </a:xfrm>
          <a:prstGeom prst="rect">
            <a:avLst/>
          </a:prstGeom>
          <a:solidFill>
            <a:srgbClr val="0A38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59359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49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26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70933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IoT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2D54AFFE-F7F9-5BB2-8140-E3064FB8554B}"/>
              </a:ext>
            </a:extLst>
          </p:cNvPr>
          <p:cNvSpPr/>
          <p:nvPr/>
        </p:nvSpPr>
        <p:spPr>
          <a:xfrm>
            <a:off x="548640" y="850392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Micro Minds</a:t>
            </a:r>
            <a:endParaRPr lang="en-US" sz="34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F3B48A90-BCDC-929A-C306-78614EE4C56F}"/>
              </a:ext>
            </a:extLst>
          </p:cNvPr>
          <p:cNvSpPr/>
          <p:nvPr/>
        </p:nvSpPr>
        <p:spPr>
          <a:xfrm>
            <a:off x="1234440" y="21945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Maisha Tabassum (0112230333)</a:t>
            </a:r>
            <a:endParaRPr lang="en-US" sz="17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286B0736-1902-6512-D901-E117FF170D16}"/>
              </a:ext>
            </a:extLst>
          </p:cNvPr>
          <p:cNvSpPr/>
          <p:nvPr/>
        </p:nvSpPr>
        <p:spPr>
          <a:xfrm>
            <a:off x="1234440" y="3044953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Mohiuddin Nafees (0112230322)</a:t>
            </a:r>
            <a:endParaRPr lang="en-US" sz="17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8A866150-CF13-8753-8D49-223971A9B813}"/>
              </a:ext>
            </a:extLst>
          </p:cNvPr>
          <p:cNvSpPr/>
          <p:nvPr/>
        </p:nvSpPr>
        <p:spPr>
          <a:xfrm>
            <a:off x="1234440" y="3760173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Mehnaz Fatima (0112230937)</a:t>
            </a:r>
            <a:endParaRPr lang="en-US" sz="17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3938CE1C-F9A5-DE06-FFF0-4D576B042166}"/>
              </a:ext>
            </a:extLst>
          </p:cNvPr>
          <p:cNvSpPr/>
          <p:nvPr/>
        </p:nvSpPr>
        <p:spPr>
          <a:xfrm>
            <a:off x="1234440" y="447857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Israt Jahan Rani (011201376)</a:t>
            </a:r>
            <a:endParaRPr lang="en-US" sz="1700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E4BD5372-DEEA-3676-129A-4DB8AB0CA957}"/>
              </a:ext>
            </a:extLst>
          </p:cNvPr>
          <p:cNvSpPr/>
          <p:nvPr/>
        </p:nvSpPr>
        <p:spPr>
          <a:xfrm>
            <a:off x="1234440" y="52486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Robiul Islam Tamim (011212039)</a:t>
            </a:r>
            <a:endParaRPr lang="en-US" sz="170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99987AFC-EC65-A532-873F-16D6F5C5A4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4"/>
          <a:stretch>
            <a:fillRect/>
          </a:stretch>
        </p:blipFill>
        <p:spPr>
          <a:xfrm>
            <a:off x="5611283" y="2194560"/>
            <a:ext cx="5540072" cy="34189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A3E93-3193-70CC-E465-217EBC4C6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7753AB-5C5C-A49F-E9D7-123D975A61FD}"/>
              </a:ext>
            </a:extLst>
          </p:cNvPr>
          <p:cNvSpPr/>
          <p:nvPr/>
        </p:nvSpPr>
        <p:spPr>
          <a:xfrm rot="-1200000">
            <a:off x="10698480" y="5120640"/>
            <a:ext cx="3657600" cy="3657600"/>
          </a:xfrm>
          <a:prstGeom prst="rect">
            <a:avLst/>
          </a:prstGeom>
          <a:solidFill>
            <a:srgbClr val="0A384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7B7A3A-9E20-9264-F401-C3EC01186C21}"/>
              </a:ext>
            </a:extLst>
          </p:cNvPr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8FDF3C-4951-35AE-546B-35761F9889EA}"/>
              </a:ext>
            </a:extLst>
          </p:cNvPr>
          <p:cNvSpPr/>
          <p:nvPr/>
        </p:nvSpPr>
        <p:spPr>
          <a:xfrm>
            <a:off x="548640" y="850392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0D2589-9AC8-D975-69E3-DCD57E537405}"/>
              </a:ext>
            </a:extLst>
          </p:cNvPr>
          <p:cNvSpPr/>
          <p:nvPr/>
        </p:nvSpPr>
        <p:spPr>
          <a:xfrm>
            <a:off x="548640" y="2194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92D6DC-B0CB-B08F-4D1D-E38D2A3363B8}"/>
              </a:ext>
            </a:extLst>
          </p:cNvPr>
          <p:cNvSpPr/>
          <p:nvPr/>
        </p:nvSpPr>
        <p:spPr>
          <a:xfrm>
            <a:off x="1234440" y="21945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17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737EE9A-3F38-83B7-DADC-9B3787B06169}"/>
              </a:ext>
            </a:extLst>
          </p:cNvPr>
          <p:cNvSpPr/>
          <p:nvPr/>
        </p:nvSpPr>
        <p:spPr>
          <a:xfrm>
            <a:off x="548640" y="281635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42EAA05-545A-6FD0-9741-DB4E88CA3762}"/>
              </a:ext>
            </a:extLst>
          </p:cNvPr>
          <p:cNvSpPr/>
          <p:nvPr/>
        </p:nvSpPr>
        <p:spPr>
          <a:xfrm>
            <a:off x="548640" y="2971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E0523DB-E4FE-B980-07D5-82BE22541A95}"/>
              </a:ext>
            </a:extLst>
          </p:cNvPr>
          <p:cNvSpPr/>
          <p:nvPr/>
        </p:nvSpPr>
        <p:spPr>
          <a:xfrm>
            <a:off x="1234440" y="2971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2EEFA68-F90A-E6BC-5792-050D99E5F855}"/>
              </a:ext>
            </a:extLst>
          </p:cNvPr>
          <p:cNvSpPr/>
          <p:nvPr/>
        </p:nvSpPr>
        <p:spPr>
          <a:xfrm>
            <a:off x="548640" y="359359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6EFD876-02D7-0A6E-CD8C-459CC938A17B}"/>
              </a:ext>
            </a:extLst>
          </p:cNvPr>
          <p:cNvSpPr/>
          <p:nvPr/>
        </p:nvSpPr>
        <p:spPr>
          <a:xfrm>
            <a:off x="548640" y="3749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DDDDBD9-C51B-794C-0583-829208605936}"/>
              </a:ext>
            </a:extLst>
          </p:cNvPr>
          <p:cNvSpPr/>
          <p:nvPr/>
        </p:nvSpPr>
        <p:spPr>
          <a:xfrm>
            <a:off x="1234440" y="37490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Improvements</a:t>
            </a:r>
            <a:endParaRPr lang="en-US" sz="17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E9589CD-7C95-D79A-7726-C363712B7432}"/>
              </a:ext>
            </a:extLst>
          </p:cNvPr>
          <p:cNvSpPr/>
          <p:nvPr/>
        </p:nvSpPr>
        <p:spPr>
          <a:xfrm>
            <a:off x="548640" y="437083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9E82833-1AF0-A7A9-DE74-9EF23918EF6B}"/>
              </a:ext>
            </a:extLst>
          </p:cNvPr>
          <p:cNvSpPr/>
          <p:nvPr/>
        </p:nvSpPr>
        <p:spPr>
          <a:xfrm>
            <a:off x="548640" y="4526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657FB43-81FB-4033-D374-AFF0DB5AAB20}"/>
              </a:ext>
            </a:extLst>
          </p:cNvPr>
          <p:cNvSpPr/>
          <p:nvPr/>
        </p:nvSpPr>
        <p:spPr>
          <a:xfrm>
            <a:off x="1234440" y="4526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</a:t>
            </a:r>
            <a:endParaRPr lang="en-US" sz="17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60F6756-569B-9613-E53F-77E1E64BDA81}"/>
              </a:ext>
            </a:extLst>
          </p:cNvPr>
          <p:cNvSpPr/>
          <p:nvPr/>
        </p:nvSpPr>
        <p:spPr>
          <a:xfrm>
            <a:off x="548640" y="514807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5B8FAD5-DF75-1B3C-96FC-7D83DBB92DC3}"/>
              </a:ext>
            </a:extLst>
          </p:cNvPr>
          <p:cNvSpPr/>
          <p:nvPr/>
        </p:nvSpPr>
        <p:spPr>
          <a:xfrm>
            <a:off x="6309360" y="2194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313CD49-1E91-0864-55E5-E74AF3DD9972}"/>
              </a:ext>
            </a:extLst>
          </p:cNvPr>
          <p:cNvSpPr/>
          <p:nvPr/>
        </p:nvSpPr>
        <p:spPr>
          <a:xfrm>
            <a:off x="6995160" y="21945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Safety Features</a:t>
            </a:r>
            <a:endParaRPr lang="en-US" sz="17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426B151-506E-68DE-FF9F-EEAF5F15DD3E}"/>
              </a:ext>
            </a:extLst>
          </p:cNvPr>
          <p:cNvSpPr/>
          <p:nvPr/>
        </p:nvSpPr>
        <p:spPr>
          <a:xfrm>
            <a:off x="6309360" y="281635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A714285-536F-7AA6-49B9-B400B312FD9E}"/>
              </a:ext>
            </a:extLst>
          </p:cNvPr>
          <p:cNvSpPr/>
          <p:nvPr/>
        </p:nvSpPr>
        <p:spPr>
          <a:xfrm>
            <a:off x="6309360" y="2971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1401860-214A-5152-1EC8-F6B5EDA6E508}"/>
              </a:ext>
            </a:extLst>
          </p:cNvPr>
          <p:cNvSpPr/>
          <p:nvPr/>
        </p:nvSpPr>
        <p:spPr>
          <a:xfrm>
            <a:off x="6995160" y="2971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7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618E652-63C9-40F5-E6DA-AC1F51926537}"/>
              </a:ext>
            </a:extLst>
          </p:cNvPr>
          <p:cNvSpPr/>
          <p:nvPr/>
        </p:nvSpPr>
        <p:spPr>
          <a:xfrm>
            <a:off x="6309360" y="359359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CB7191D-E60B-9DD3-A07F-209258BD2424}"/>
              </a:ext>
            </a:extLst>
          </p:cNvPr>
          <p:cNvSpPr/>
          <p:nvPr/>
        </p:nvSpPr>
        <p:spPr>
          <a:xfrm>
            <a:off x="6309360" y="3749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F75EF6C-E6BB-954D-0DA0-268403E8557B}"/>
              </a:ext>
            </a:extLst>
          </p:cNvPr>
          <p:cNvSpPr/>
          <p:nvPr/>
        </p:nvSpPr>
        <p:spPr>
          <a:xfrm>
            <a:off x="6995160" y="37490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7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0914A90-79C3-1AAE-DA5B-B090B033568D}"/>
              </a:ext>
            </a:extLst>
          </p:cNvPr>
          <p:cNvSpPr/>
          <p:nvPr/>
        </p:nvSpPr>
        <p:spPr>
          <a:xfrm>
            <a:off x="6309360" y="437083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D272388-937D-0EDF-5523-8360C95EC23A}"/>
              </a:ext>
            </a:extLst>
          </p:cNvPr>
          <p:cNvSpPr/>
          <p:nvPr/>
        </p:nvSpPr>
        <p:spPr>
          <a:xfrm>
            <a:off x="6309360" y="4526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430186B-36AA-77DA-E9D3-70DB4F3D536F}"/>
              </a:ext>
            </a:extLst>
          </p:cNvPr>
          <p:cNvSpPr/>
          <p:nvPr/>
        </p:nvSpPr>
        <p:spPr>
          <a:xfrm>
            <a:off x="6995160" y="4526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0299497-EC8D-0D77-026C-0CF96A492A5E}"/>
              </a:ext>
            </a:extLst>
          </p:cNvPr>
          <p:cNvSpPr/>
          <p:nvPr/>
        </p:nvSpPr>
        <p:spPr>
          <a:xfrm>
            <a:off x="6309360" y="5148072"/>
            <a:ext cx="5212080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8959B64-3E53-556E-F7BA-93D7EC72D904}"/>
              </a:ext>
            </a:extLst>
          </p:cNvPr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IoT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1FA5CF2-91CE-2FE1-A0FD-F029FD0E27D2}"/>
              </a:ext>
            </a:extLst>
          </p:cNvPr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67304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smart-home IoT prototype designed to help elderly people live more safely and independently. The system monitors medication, kitchen hazards, door security, and emergencies — responding automatically or notifying a caregiver when needed.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329184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1C1E24"/>
          </a:solidFill>
          <a:ln/>
        </p:spPr>
      </p:sp>
      <p:sp>
        <p:nvSpPr>
          <p:cNvPr id="7" name="Shape 5"/>
          <p:cNvSpPr/>
          <p:nvPr/>
        </p:nvSpPr>
        <p:spPr>
          <a:xfrm>
            <a:off x="1362456" y="3611880"/>
            <a:ext cx="822960" cy="82296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8" name="Image 0" descr="/home/claude/icons/s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381304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5216" y="4572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500" dirty="0"/>
          </a:p>
        </p:txBody>
      </p:sp>
      <p:pic>
        <p:nvPicPr>
          <p:cNvPr id="10" name="Image 1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524" y="404164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65576" y="329184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1C1E24"/>
          </a:solidFill>
          <a:ln/>
        </p:spPr>
      </p:sp>
      <p:sp>
        <p:nvSpPr>
          <p:cNvPr id="12" name="Shape 8"/>
          <p:cNvSpPr/>
          <p:nvPr/>
        </p:nvSpPr>
        <p:spPr>
          <a:xfrm>
            <a:off x="4242816" y="3611880"/>
            <a:ext cx="822960" cy="82296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13" name="Image 2" descr="/home/claude/icons/dec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381304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65576" y="4572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pic>
        <p:nvPicPr>
          <p:cNvPr id="15" name="Image 3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4041648"/>
            <a:ext cx="329184" cy="3291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45936" y="329184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1C1E24"/>
          </a:solidFill>
          <a:ln/>
        </p:spPr>
      </p:sp>
      <p:sp>
        <p:nvSpPr>
          <p:cNvPr id="17" name="Shape 11"/>
          <p:cNvSpPr/>
          <p:nvPr/>
        </p:nvSpPr>
        <p:spPr>
          <a:xfrm>
            <a:off x="7123176" y="3611880"/>
            <a:ext cx="822960" cy="82296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18" name="Image 4" descr="/home/claude/icons/a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3813048"/>
            <a:ext cx="420624" cy="4206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45936" y="4572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500" dirty="0"/>
          </a:p>
        </p:txBody>
      </p:sp>
      <p:pic>
        <p:nvPicPr>
          <p:cNvPr id="20" name="Image 5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244" y="4041648"/>
            <a:ext cx="329184" cy="32918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226296" y="329184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1C1E24"/>
          </a:solidFill>
          <a:ln/>
        </p:spPr>
      </p:sp>
      <p:sp>
        <p:nvSpPr>
          <p:cNvPr id="22" name="Shape 14"/>
          <p:cNvSpPr/>
          <p:nvPr/>
        </p:nvSpPr>
        <p:spPr>
          <a:xfrm>
            <a:off x="10003536" y="3611880"/>
            <a:ext cx="822960" cy="82296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23" name="Image 6" descr="/home/claude/icons/notif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4" y="3813048"/>
            <a:ext cx="420624" cy="42062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26296" y="4572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54864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Decide → Action → Caregiver Notification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IoT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risks for elderly living alone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5" name="Image 0" descr="/home/claude/icons/medic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402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2057400"/>
            <a:ext cx="4636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take medicine on time, or missing a dose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2103120"/>
            <a:ext cx="566928" cy="566928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8" name="Image 1" descr="/home/claude/icons/fl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402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76872" y="2057400"/>
            <a:ext cx="4636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leaks, smoke, or fire accidents in the kitchen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11" name="Image 2" descr="/home/claude/icons/secur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8328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3200400"/>
            <a:ext cx="4636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people attempting to enter the home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63640" y="3246120"/>
            <a:ext cx="566928" cy="566928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14" name="Image 3" descr="/home/claude/icons/f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8328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76872" y="3200400"/>
            <a:ext cx="4636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or becoming injured with no one nearby to help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389120"/>
            <a:ext cx="566928" cy="566928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17" name="Image 4" descr="/home/claude/icons/caregi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52628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61872" y="4343400"/>
            <a:ext cx="4636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cannot continuously monitor the elderly person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C4A5B"/>
          </a:solidFill>
          <a:ln/>
        </p:spPr>
      </p:sp>
      <p:sp>
        <p:nvSpPr>
          <p:cNvPr id="20" name="Text 13"/>
          <p:cNvSpPr/>
          <p:nvPr/>
        </p:nvSpPr>
        <p:spPr>
          <a:xfrm>
            <a:off x="822960" y="5513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WE ADDRESS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822960" y="578815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IoT technology provide continuous safety monitoring and automatic assistance for elderly people, while reducing their dependence on caregivers?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IoT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system improves on existing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03520" cy="4160520"/>
          </a:xfrm>
          <a:prstGeom prst="roundRect">
            <a:avLst>
              <a:gd name="adj" fmla="val 2637"/>
            </a:avLst>
          </a:prstGeom>
          <a:solidFill>
            <a:srgbClr val="1C1E2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200" dirty="0"/>
          </a:p>
        </p:txBody>
      </p:sp>
      <p:pic>
        <p:nvPicPr>
          <p:cNvPr id="6" name="Image 0" descr="/home/claude/icons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3464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" y="2798064"/>
            <a:ext cx="365760" cy="365760"/>
          </a:xfrm>
          <a:prstGeom prst="ellipse">
            <a:avLst/>
          </a:prstGeom>
          <a:solidFill>
            <a:srgbClr val="3A2E2E"/>
          </a:solidFill>
          <a:ln/>
        </p:spPr>
      </p:sp>
      <p:pic>
        <p:nvPicPr>
          <p:cNvPr id="8" name="Image 1" descr="/home/claude/icons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889504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7432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focus on one or two elderly-care functions</a:t>
            </a:r>
            <a:endParaRPr lang="en-US" sz="1250" dirty="0"/>
          </a:p>
        </p:txBody>
      </p:sp>
      <p:pic>
        <p:nvPicPr>
          <p:cNvPr id="10" name="Image 2" descr="/home/claude/icons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03320"/>
            <a:ext cx="274320" cy="2743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86384" y="3666744"/>
            <a:ext cx="365760" cy="365760"/>
          </a:xfrm>
          <a:prstGeom prst="ellipse">
            <a:avLst/>
          </a:prstGeom>
          <a:solidFill>
            <a:srgbClr val="3A2E2E"/>
          </a:solidFill>
          <a:ln/>
        </p:spPr>
      </p:sp>
      <p:pic>
        <p:nvPicPr>
          <p:cNvPr id="12" name="Image 3" descr="/home/claude/icons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758184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36118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medicine systems provide only reminders</a:t>
            </a:r>
            <a:endParaRPr lang="en-US" sz="1250" dirty="0"/>
          </a:p>
        </p:txBody>
      </p:sp>
      <p:pic>
        <p:nvPicPr>
          <p:cNvPr id="14" name="Image 4" descr="/home/claude/icons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274320" cy="27432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86384" y="4535424"/>
            <a:ext cx="365760" cy="365760"/>
          </a:xfrm>
          <a:prstGeom prst="ellipse">
            <a:avLst/>
          </a:prstGeom>
          <a:solidFill>
            <a:srgbClr val="3A2E2E"/>
          </a:solidFill>
          <a:ln/>
        </p:spPr>
      </p:sp>
      <p:pic>
        <p:nvPicPr>
          <p:cNvPr id="16" name="Image 5" descr="/home/claude/icons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626864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25880" y="44805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systems often depend on manual SOS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6309360" y="1965960"/>
            <a:ext cx="5303520" cy="4160520"/>
          </a:xfrm>
          <a:prstGeom prst="roundRect">
            <a:avLst>
              <a:gd name="adj" fmla="val 2637"/>
            </a:avLst>
          </a:prstGeom>
          <a:solidFill>
            <a:srgbClr val="0C4A5B"/>
          </a:solidFill>
          <a:ln/>
        </p:spPr>
      </p:sp>
      <p:sp>
        <p:nvSpPr>
          <p:cNvPr id="19" name="Text 11"/>
          <p:cNvSpPr/>
          <p:nvPr/>
        </p:nvSpPr>
        <p:spPr>
          <a:xfrm>
            <a:off x="658368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IMPROVEMENT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6583680" y="2770632"/>
            <a:ext cx="310896" cy="310896"/>
          </a:xfrm>
          <a:prstGeom prst="ellipse">
            <a:avLst/>
          </a:prstGeom>
          <a:solidFill>
            <a:srgbClr val="27DDDF"/>
          </a:solidFill>
          <a:ln/>
        </p:spPr>
      </p:sp>
      <p:pic>
        <p:nvPicPr>
          <p:cNvPr id="21" name="Image 6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825496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040880" y="267919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compliance: 5–10 min dose window + missed-dose alert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6583680" y="3547872"/>
            <a:ext cx="310896" cy="310896"/>
          </a:xfrm>
          <a:prstGeom prst="ellipse">
            <a:avLst/>
          </a:prstGeom>
          <a:solidFill>
            <a:srgbClr val="27DDDF"/>
          </a:solidFill>
          <a:ln/>
        </p:spPr>
      </p:sp>
      <p:pic>
        <p:nvPicPr>
          <p:cNvPr id="24" name="Image 7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3602736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40880" y="345643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security: repeated unauthorized attempts trigger intruder alert + image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6583680" y="4325112"/>
            <a:ext cx="310896" cy="310896"/>
          </a:xfrm>
          <a:prstGeom prst="ellipse">
            <a:avLst/>
          </a:prstGeom>
          <a:solidFill>
            <a:srgbClr val="27DDDF"/>
          </a:solidFill>
          <a:ln/>
        </p:spPr>
      </p:sp>
      <p:pic>
        <p:nvPicPr>
          <p:cNvPr id="27" name="Image 8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379976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040880" y="423367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emergency: fall detection plus manual SOS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6583680" y="5102352"/>
            <a:ext cx="310896" cy="310896"/>
          </a:xfrm>
          <a:prstGeom prst="ellipse">
            <a:avLst/>
          </a:prstGeom>
          <a:solidFill>
            <a:srgbClr val="27DDDF"/>
          </a:solidFill>
          <a:ln/>
        </p:spPr>
      </p:sp>
      <p:pic>
        <p:nvPicPr>
          <p:cNvPr id="30" name="Image 9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5157216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040880" y="501091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system: four safety features, one low-cost smart home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IoT</a:t>
            </a:r>
            <a:endParaRPr lang="en-US" sz="900" dirty="0"/>
          </a:p>
        </p:txBody>
      </p:sp>
      <p:sp>
        <p:nvSpPr>
          <p:cNvPr id="33" name="Text 21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software, and materials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26030" cy="4160520"/>
          </a:xfrm>
          <a:prstGeom prst="roundRect">
            <a:avLst>
              <a:gd name="adj" fmla="val 3620"/>
            </a:avLst>
          </a:prstGeom>
          <a:solidFill>
            <a:srgbClr val="1C1E2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6" name="Image 0" descr="/home/claude/icons/sens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3591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20688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206883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DS3231 RTC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Sensor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RC522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 Switch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Sensor (MPU6050)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Button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94710" y="1965960"/>
            <a:ext cx="2526030" cy="4160520"/>
          </a:xfrm>
          <a:prstGeom prst="roundRect">
            <a:avLst>
              <a:gd name="adj" fmla="val 3620"/>
            </a:avLst>
          </a:prstGeom>
          <a:solidFill>
            <a:srgbClr val="1C1E24"/>
          </a:solidFill>
          <a:ln/>
        </p:spPr>
      </p:sp>
      <p:sp>
        <p:nvSpPr>
          <p:cNvPr id="10" name="Shape 7"/>
          <p:cNvSpPr/>
          <p:nvPr/>
        </p:nvSpPr>
        <p:spPr>
          <a:xfrm>
            <a:off x="3623310" y="2240280"/>
            <a:ext cx="502920" cy="50292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11" name="Image 1" descr="/home/claude/icons/controllers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182" y="23591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3310" y="2880360"/>
            <a:ext cx="20688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23310" y="3291840"/>
            <a:ext cx="206883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40780" y="1965960"/>
            <a:ext cx="2526030" cy="4160520"/>
          </a:xfrm>
          <a:prstGeom prst="roundRect">
            <a:avLst>
              <a:gd name="adj" fmla="val 3620"/>
            </a:avLst>
          </a:prstGeom>
          <a:solidFill>
            <a:srgbClr val="1C1E24"/>
          </a:solidFill>
          <a:ln/>
        </p:spPr>
      </p:sp>
      <p:sp>
        <p:nvSpPr>
          <p:cNvPr id="15" name="Shape 11"/>
          <p:cNvSpPr/>
          <p:nvPr/>
        </p:nvSpPr>
        <p:spPr>
          <a:xfrm>
            <a:off x="6469380" y="2240280"/>
            <a:ext cx="502920" cy="50292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16" name="Image 2" descr="/home/claude/icons/outputs-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252" y="23591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9380" y="2880360"/>
            <a:ext cx="20688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69380" y="3291840"/>
            <a:ext cx="206883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Motors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Fan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/ Colored LEDs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86850" y="1965960"/>
            <a:ext cx="2526030" cy="4160520"/>
          </a:xfrm>
          <a:prstGeom prst="roundRect">
            <a:avLst>
              <a:gd name="adj" fmla="val 3620"/>
            </a:avLst>
          </a:prstGeom>
          <a:solidFill>
            <a:srgbClr val="1C1E24"/>
          </a:solidFill>
          <a:ln/>
        </p:spPr>
      </p:sp>
      <p:sp>
        <p:nvSpPr>
          <p:cNvPr id="20" name="Shape 15"/>
          <p:cNvSpPr/>
          <p:nvPr/>
        </p:nvSpPr>
        <p:spPr>
          <a:xfrm>
            <a:off x="9315450" y="2240280"/>
            <a:ext cx="502920" cy="50292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21" name="Image 3" descr="/home/claude/icons/softw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4322" y="235915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5450" y="2880360"/>
            <a:ext cx="20688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15450" y="3291840"/>
            <a:ext cx="206883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C/C++</a:t>
            </a:r>
            <a:endParaRPr lang="en-US" sz="105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05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Wi-Fi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IoT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SAFETY FEATURES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compliance &amp; kitchen safety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5" name="Image 0" descr="/home/claude/icons/medic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94767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8745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Smart Medicine Compliance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C1E2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5603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28529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+ reed switch track time and drawer status.</a:t>
            </a:r>
            <a:endParaRPr lang="en-US" sz="1000" dirty="0"/>
          </a:p>
        </p:txBody>
      </p:sp>
      <p:pic>
        <p:nvPicPr>
          <p:cNvPr id="10" name="Image 1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036" y="3035808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12920" y="24688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0C4A5B"/>
          </a:solidFill>
          <a:ln/>
        </p:spPr>
      </p:sp>
      <p:sp>
        <p:nvSpPr>
          <p:cNvPr id="12" name="Text 8"/>
          <p:cNvSpPr/>
          <p:nvPr/>
        </p:nvSpPr>
        <p:spPr>
          <a:xfrm>
            <a:off x="4450080" y="25603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450080" y="28529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time reached → unlock correct drawer → start 5–10 min timer.</a:t>
            </a:r>
            <a:endParaRPr lang="en-US" sz="1000" dirty="0"/>
          </a:p>
        </p:txBody>
      </p:sp>
      <p:pic>
        <p:nvPicPr>
          <p:cNvPr id="14" name="Image 2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316" y="3035808"/>
            <a:ext cx="201168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77200" y="24688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C1E24"/>
          </a:solidFill>
          <a:ln/>
        </p:spPr>
      </p:sp>
      <p:sp>
        <p:nvSpPr>
          <p:cNvPr id="16" name="Text 11"/>
          <p:cNvSpPr/>
          <p:nvPr/>
        </p:nvSpPr>
        <p:spPr>
          <a:xfrm>
            <a:off x="8214360" y="25603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SOLUTION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214360" y="28529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unlocks drawer; OLED + buzzer remind user. Not opened → relock + missed-dose alert.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19" name="Image 3" descr="/home/claude/icons/fl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462272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4389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Kitchen Safety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49834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C1E24"/>
          </a:solidFill>
          <a:ln/>
        </p:spPr>
      </p:sp>
      <p:sp>
        <p:nvSpPr>
          <p:cNvPr id="22" name="Text 16"/>
          <p:cNvSpPr/>
          <p:nvPr/>
        </p:nvSpPr>
        <p:spPr>
          <a:xfrm>
            <a:off x="685800" y="50749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85800" y="53675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+ flame sensor detect gas, smoke, or flame.</a:t>
            </a:r>
            <a:endParaRPr lang="en-US" sz="1000" dirty="0"/>
          </a:p>
        </p:txBody>
      </p:sp>
      <p:pic>
        <p:nvPicPr>
          <p:cNvPr id="24" name="Image 4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036" y="5550408"/>
            <a:ext cx="201168" cy="20116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312920" y="49834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0C4A5B"/>
          </a:solidFill>
          <a:ln/>
        </p:spPr>
      </p:sp>
      <p:sp>
        <p:nvSpPr>
          <p:cNvPr id="26" name="Text 19"/>
          <p:cNvSpPr/>
          <p:nvPr/>
        </p:nvSpPr>
        <p:spPr>
          <a:xfrm>
            <a:off x="4450080" y="50749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450080" y="53675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exceeds safe threshold, or flame is detected.</a:t>
            </a:r>
            <a:endParaRPr lang="en-US" sz="1000" dirty="0"/>
          </a:p>
        </p:txBody>
      </p:sp>
      <p:pic>
        <p:nvPicPr>
          <p:cNvPr id="28" name="Image 5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316" y="5550408"/>
            <a:ext cx="201168" cy="20116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077200" y="49834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C1E24"/>
          </a:solidFill>
          <a:ln/>
        </p:spPr>
      </p:sp>
      <p:sp>
        <p:nvSpPr>
          <p:cNvPr id="30" name="Text 22"/>
          <p:cNvSpPr/>
          <p:nvPr/>
        </p:nvSpPr>
        <p:spPr>
          <a:xfrm>
            <a:off x="8214360" y="50749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SOLUTION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8214360" y="53675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closes gas valve, fan turns on, buzzer + red LED activate, OLED shows warning.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IoT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SAFETY FEATURES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security &amp; fall / emergency detection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5" name="Image 0" descr="/home/claude/icons/d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94767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8745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— Smart Door Security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C1E2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5603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28529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+ RFID + reed switch + camera monitor the entrance.</a:t>
            </a:r>
            <a:endParaRPr lang="en-US" sz="1000" dirty="0"/>
          </a:p>
        </p:txBody>
      </p:sp>
      <p:pic>
        <p:nvPicPr>
          <p:cNvPr id="10" name="Image 1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036" y="3035808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12920" y="24688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0C4A5B"/>
          </a:solidFill>
          <a:ln/>
        </p:spPr>
      </p:sp>
      <p:sp>
        <p:nvSpPr>
          <p:cNvPr id="12" name="Text 8"/>
          <p:cNvSpPr/>
          <p:nvPr/>
        </p:nvSpPr>
        <p:spPr>
          <a:xfrm>
            <a:off x="4450080" y="25603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450080" y="28529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RFID → allow entry. Unauthorized or repeated attempts → intruder mode.</a:t>
            </a:r>
            <a:endParaRPr lang="en-US" sz="1000" dirty="0"/>
          </a:p>
        </p:txBody>
      </p:sp>
      <p:pic>
        <p:nvPicPr>
          <p:cNvPr id="14" name="Image 2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316" y="3035808"/>
            <a:ext cx="201168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77200" y="24688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C1E24"/>
          </a:solidFill>
          <a:ln/>
        </p:spPr>
      </p:sp>
      <p:sp>
        <p:nvSpPr>
          <p:cNvPr id="16" name="Text 11"/>
          <p:cNvSpPr/>
          <p:nvPr/>
        </p:nvSpPr>
        <p:spPr>
          <a:xfrm>
            <a:off x="8214360" y="25603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SOLUTION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214360" y="28529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controls the lock, alarm activates, camera captures the intruder, ESP32 alerts the caregiver.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19" name="Image 3" descr="/home/claude/icons/f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462272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4389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— Fall &amp; Emergency Detection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49834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C1E24"/>
          </a:solidFill>
          <a:ln/>
        </p:spPr>
      </p:sp>
      <p:sp>
        <p:nvSpPr>
          <p:cNvPr id="22" name="Text 16"/>
          <p:cNvSpPr/>
          <p:nvPr/>
        </p:nvSpPr>
        <p:spPr>
          <a:xfrm>
            <a:off x="685800" y="50749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85800" y="53675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sensor + SOS button detect abnormal movement or a manual press.</a:t>
            </a:r>
            <a:endParaRPr lang="en-US" sz="1000" dirty="0"/>
          </a:p>
        </p:txBody>
      </p:sp>
      <p:pic>
        <p:nvPicPr>
          <p:cNvPr id="24" name="Image 4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036" y="5550408"/>
            <a:ext cx="201168" cy="20116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312920" y="49834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0C4A5B"/>
          </a:solidFill>
          <a:ln/>
        </p:spPr>
      </p:sp>
      <p:sp>
        <p:nvSpPr>
          <p:cNvPr id="26" name="Text 19"/>
          <p:cNvSpPr/>
          <p:nvPr/>
        </p:nvSpPr>
        <p:spPr>
          <a:xfrm>
            <a:off x="4450080" y="50749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450080" y="53675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detected, or SOS pressed → emergency mode activated.</a:t>
            </a:r>
            <a:endParaRPr lang="en-US" sz="1000" dirty="0"/>
          </a:p>
        </p:txBody>
      </p:sp>
      <p:pic>
        <p:nvPicPr>
          <p:cNvPr id="28" name="Image 5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316" y="5550408"/>
            <a:ext cx="201168" cy="20116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077200" y="49834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C1E24"/>
          </a:solidFill>
          <a:ln/>
        </p:spPr>
      </p:sp>
      <p:sp>
        <p:nvSpPr>
          <p:cNvPr id="30" name="Text 22"/>
          <p:cNvSpPr/>
          <p:nvPr/>
        </p:nvSpPr>
        <p:spPr>
          <a:xfrm>
            <a:off x="8214360" y="5074920"/>
            <a:ext cx="326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SOLUTION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8214360" y="5367528"/>
            <a:ext cx="326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sounds, red LED flashes, OLED shows EMERGENCY, ESP32 notifies the caregiver.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IoT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C1E2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66928" cy="566928"/>
          </a:xfrm>
          <a:prstGeom prst="ellipse">
            <a:avLst/>
          </a:prstGeom>
          <a:solidFill>
            <a:srgbClr val="27DDDF"/>
          </a:solidFill>
          <a:ln/>
        </p:spPr>
      </p:sp>
      <p:pic>
        <p:nvPicPr>
          <p:cNvPr id="6" name="Image 0" descr="/home/claude/icons/outcome-safe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2311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independent living for elderly people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187452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C1E24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2103120"/>
            <a:ext cx="566928" cy="566928"/>
          </a:xfrm>
          <a:prstGeom prst="ellipse">
            <a:avLst/>
          </a:prstGeom>
          <a:solidFill>
            <a:srgbClr val="27DDDF"/>
          </a:solidFill>
          <a:ln/>
        </p:spPr>
      </p:sp>
      <p:pic>
        <p:nvPicPr>
          <p:cNvPr id="10" name="Image 1" descr="/home/claude/icons/outcome-medic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23113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7432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 of missed medication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38160" y="187452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C1E24"/>
          </a:solidFill>
          <a:ln/>
        </p:spPr>
      </p:sp>
      <p:sp>
        <p:nvSpPr>
          <p:cNvPr id="13" name="Shape 9"/>
          <p:cNvSpPr/>
          <p:nvPr/>
        </p:nvSpPr>
        <p:spPr>
          <a:xfrm>
            <a:off x="8366760" y="2103120"/>
            <a:ext cx="566928" cy="566928"/>
          </a:xfrm>
          <a:prstGeom prst="ellipse">
            <a:avLst/>
          </a:prstGeom>
          <a:solidFill>
            <a:srgbClr val="27DDDF"/>
          </a:solidFill>
          <a:ln/>
        </p:spPr>
      </p:sp>
      <p:pic>
        <p:nvPicPr>
          <p:cNvPr id="14" name="Image 2" descr="/home/claude/icons/outcome-kitch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223113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66760" y="27432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kitchen hazard response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47472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C1E24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3703320"/>
            <a:ext cx="566928" cy="566928"/>
          </a:xfrm>
          <a:prstGeom prst="ellipse">
            <a:avLst/>
          </a:prstGeom>
          <a:solidFill>
            <a:srgbClr val="27DDDF"/>
          </a:solidFill>
          <a:ln/>
        </p:spPr>
      </p:sp>
      <p:pic>
        <p:nvPicPr>
          <p:cNvPr id="18" name="Image 3" descr="/home/claude/icons/outcome-secur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383133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43434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home security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43400" y="347472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C1E24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0" y="3703320"/>
            <a:ext cx="566928" cy="566928"/>
          </a:xfrm>
          <a:prstGeom prst="ellipse">
            <a:avLst/>
          </a:prstGeom>
          <a:solidFill>
            <a:srgbClr val="27DDDF"/>
          </a:solidFill>
          <a:ln/>
        </p:spPr>
      </p:sp>
      <p:pic>
        <p:nvPicPr>
          <p:cNvPr id="22" name="Image 4" descr="/home/claude/icons/outcome-fa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83133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0" y="43434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fall / emergency assistance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138160" y="347472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C1E24"/>
          </a:solidFill>
          <a:ln/>
        </p:spPr>
      </p:sp>
      <p:sp>
        <p:nvSpPr>
          <p:cNvPr id="25" name="Shape 18"/>
          <p:cNvSpPr/>
          <p:nvPr/>
        </p:nvSpPr>
        <p:spPr>
          <a:xfrm>
            <a:off x="8366760" y="3703320"/>
            <a:ext cx="566928" cy="566928"/>
          </a:xfrm>
          <a:prstGeom prst="ellipse">
            <a:avLst/>
          </a:prstGeom>
          <a:solidFill>
            <a:srgbClr val="27DDDF"/>
          </a:solidFill>
          <a:ln/>
        </p:spPr>
      </p:sp>
      <p:pic>
        <p:nvPicPr>
          <p:cNvPr id="26" name="Image 5" descr="/home/claude/icons/outcome-notif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4776" y="383133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66760" y="43434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caregiver notification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0C4A5B"/>
          </a:solidFill>
          <a:ln/>
        </p:spPr>
      </p:sp>
      <p:sp>
        <p:nvSpPr>
          <p:cNvPr id="29" name="Text 21"/>
          <p:cNvSpPr/>
          <p:nvPr/>
        </p:nvSpPr>
        <p:spPr>
          <a:xfrm>
            <a:off x="548640" y="5166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  |   INTEGRATED   |   ELDERLY-FOCUSED SMART HOME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IoT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this responsibly, at low cost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26030" cy="4023360"/>
          </a:xfrm>
          <a:prstGeom prst="roundRect">
            <a:avLst>
              <a:gd name="adj" fmla="val 3620"/>
            </a:avLst>
          </a:prstGeom>
          <a:solidFill>
            <a:srgbClr val="1C1E24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240280"/>
            <a:ext cx="548640" cy="54864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6" name="Image 0" descr="/home/claude/icons/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3682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92608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Constraints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3429000"/>
            <a:ext cx="21236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components affordable.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9808" y="4206240"/>
            <a:ext cx="2123694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4297680"/>
            <a:ext cx="21236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9808" y="4544568"/>
            <a:ext cx="212369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sensors and open-source Arduino / ESP32 platforms.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94710" y="1965960"/>
            <a:ext cx="2526030" cy="4023360"/>
          </a:xfrm>
          <a:prstGeom prst="roundRect">
            <a:avLst>
              <a:gd name="adj" fmla="val 3620"/>
            </a:avLst>
          </a:prstGeom>
          <a:solidFill>
            <a:srgbClr val="1C1E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595878" y="2240280"/>
            <a:ext cx="548640" cy="54864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14" name="Image 1" descr="/home/claude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3894" y="236829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5878" y="292608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Reliability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95878" y="3429000"/>
            <a:ext cx="21236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false alarms or missed detections.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95878" y="4206240"/>
            <a:ext cx="2123694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95878" y="4297680"/>
            <a:ext cx="21236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595878" y="4544568"/>
            <a:ext cx="212369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confirmation and tuned safety thresholds.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40780" y="1965960"/>
            <a:ext cx="2526030" cy="4023360"/>
          </a:xfrm>
          <a:prstGeom prst="roundRect">
            <a:avLst>
              <a:gd name="adj" fmla="val 3620"/>
            </a:avLst>
          </a:prstGeom>
          <a:solidFill>
            <a:srgbClr val="1C1E24"/>
          </a:solidFill>
          <a:ln/>
        </p:spPr>
      </p:sp>
      <p:sp>
        <p:nvSpPr>
          <p:cNvPr id="21" name="Shape 17"/>
          <p:cNvSpPr/>
          <p:nvPr/>
        </p:nvSpPr>
        <p:spPr>
          <a:xfrm>
            <a:off x="6441948" y="2240280"/>
            <a:ext cx="548640" cy="54864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22" name="Image 2" descr="/home/claude/icons/conne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964" y="236829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1948" y="292608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&amp; Power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41948" y="3429000"/>
            <a:ext cx="21236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drops or power interruptions.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41948" y="4206240"/>
            <a:ext cx="2123694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41948" y="4297680"/>
            <a:ext cx="21236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6441948" y="4544568"/>
            <a:ext cx="212369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 logic plus backup power for core functions.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086850" y="1965960"/>
            <a:ext cx="2526030" cy="4023360"/>
          </a:xfrm>
          <a:prstGeom prst="roundRect">
            <a:avLst>
              <a:gd name="adj" fmla="val 3620"/>
            </a:avLst>
          </a:prstGeom>
          <a:solidFill>
            <a:srgbClr val="1C1E24"/>
          </a:solidFill>
          <a:ln/>
        </p:spPr>
      </p:sp>
      <p:sp>
        <p:nvSpPr>
          <p:cNvPr id="29" name="Shape 24"/>
          <p:cNvSpPr/>
          <p:nvPr/>
        </p:nvSpPr>
        <p:spPr>
          <a:xfrm>
            <a:off x="9288018" y="2240280"/>
            <a:ext cx="548640" cy="548640"/>
          </a:xfrm>
          <a:prstGeom prst="ellipse">
            <a:avLst/>
          </a:prstGeom>
          <a:solidFill>
            <a:srgbClr val="0C4A5B"/>
          </a:solidFill>
          <a:ln/>
        </p:spPr>
      </p:sp>
      <p:pic>
        <p:nvPicPr>
          <p:cNvPr id="30" name="Image 3" descr="/home/claude/icons/adop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368296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288018" y="292608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9288018" y="3429000"/>
            <a:ext cx="21236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with new technology.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9288018" y="4206240"/>
            <a:ext cx="2123694" cy="0"/>
          </a:xfrm>
          <a:prstGeom prst="line">
            <a:avLst/>
          </a:prstGeom>
          <a:noFill/>
          <a:ln w="12700">
            <a:solidFill>
              <a:srgbClr val="2A2D33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288018" y="4297680"/>
            <a:ext cx="21236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9288018" y="4544568"/>
            <a:ext cx="212369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OLED / buzzer interface and a caregiver-friendly app.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IoT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7772400" y="-1371600"/>
            <a:ext cx="7315200" cy="7315200"/>
          </a:xfrm>
          <a:prstGeom prst="rect">
            <a:avLst/>
          </a:prstGeom>
          <a:solidFill>
            <a:srgbClr val="0A38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safer, more independent everyday life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brings together medicine reminders, kitchen hazard response, door security, and fall detection into a single, low-cost smart-home system built on Arduino and ESP32.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automating routine safety checks and notifying caregivers only when needed, it reduces daily risk for elderly people while easing the burden on the people who care for them.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focus on field-testing the prototype with real households and refining sensor thresholds to further cut false alarms.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257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safety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5257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5806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5257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852160" y="5806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smart-home unit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IoT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6309360" y="-1371600"/>
            <a:ext cx="9144000" cy="9144000"/>
          </a:xfrm>
          <a:prstGeom prst="rect">
            <a:avLst/>
          </a:prstGeom>
          <a:solidFill>
            <a:srgbClr val="0A3844"/>
          </a:solidFill>
          <a:ln/>
        </p:spPr>
      </p:sp>
      <p:sp>
        <p:nvSpPr>
          <p:cNvPr id="3" name="Shape 1"/>
          <p:cNvSpPr/>
          <p:nvPr/>
        </p:nvSpPr>
        <p:spPr>
          <a:xfrm rot="-1200000">
            <a:off x="8778240" y="3108960"/>
            <a:ext cx="6400800" cy="6400800"/>
          </a:xfrm>
          <a:prstGeom prst="rect">
            <a:avLst/>
          </a:prstGeom>
          <a:solidFill>
            <a:srgbClr val="0C4A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560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881</Words>
  <Application>Microsoft Office PowerPoint</Application>
  <PresentationFormat>Widescreen</PresentationFormat>
  <Paragraphs>199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Mehnaz Fatima</cp:lastModifiedBy>
  <cp:revision>2</cp:revision>
  <dcterms:created xsi:type="dcterms:W3CDTF">2026-08-08T17:31:40Z</dcterms:created>
  <dcterms:modified xsi:type="dcterms:W3CDTF">2026-08-08T18:13:02Z</dcterms:modified>
</cp:coreProperties>
</file>